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T Lakes Neue Bold" charset="1" panose="02010001040000080307"/>
      <p:regular r:id="rId19"/>
    </p:embeddedFont>
    <p:embeddedFont>
      <p:font typeface="Arimo Bold" charset="1" panose="020B0704020202020204"/>
      <p:regular r:id="rId20"/>
    </p:embeddedFon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2"/>
    </p:embeddedFont>
    <p:embeddedFont>
      <p:font typeface="Canva Sans Bold" charset="1" panose="020B0803030501040103"/>
      <p:regular r:id="rId23"/>
    </p:embeddedFont>
    <p:embeddedFont>
      <p:font typeface="Canva Sans" charset="1" panose="020B0503030501040103"/>
      <p:regular r:id="rId24"/>
    </p:embeddedFont>
    <p:embeddedFont>
      <p:font typeface="TT Lakes Neue" charset="1" panose="02010001040000080307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1945" y="4471678"/>
            <a:ext cx="7202986" cy="14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4"/>
              </a:lnSpc>
              <a:spcBef>
                <a:spcPct val="0"/>
              </a:spcBef>
            </a:pPr>
            <a:r>
              <a:rPr lang="en-US" b="true" sz="1074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PROJECT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83071" y="2651055"/>
            <a:ext cx="9715965" cy="14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4"/>
              </a:lnSpc>
              <a:spcBef>
                <a:spcPct val="0"/>
              </a:spcBef>
            </a:pPr>
            <a:r>
              <a:rPr lang="en-US" b="true" sz="10749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LOGISTICS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7939" y="761358"/>
            <a:ext cx="14490012" cy="270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0"/>
              </a:lnSpc>
            </a:pPr>
            <a:r>
              <a:rPr lang="en-US" sz="6085" b="true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PROJECT VISION &amp; OBJECTIVE</a:t>
            </a:r>
          </a:p>
          <a:p>
            <a:pPr algn="l">
              <a:lnSpc>
                <a:spcPts val="8989"/>
              </a:lnSpc>
            </a:pPr>
          </a:p>
          <a:p>
            <a:pPr algn="l">
              <a:lnSpc>
                <a:spcPts val="573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51918" y="2786807"/>
            <a:ext cx="17984163" cy="520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28607" indent="-364304" lvl="1">
              <a:lnSpc>
                <a:spcPts val="3577"/>
              </a:lnSpc>
              <a:buFont typeface="Arial"/>
              <a:buChar char="•"/>
            </a:pPr>
            <a:r>
              <a:rPr lang="en-US" b="true" sz="337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 TODAY'S COMPETITIVE E-COMMERCE LANDSCAPE, OPTIMIZING LOGISTICS AND UNDERSTANDING SALES PERFORMANCE ARE CRITICAL FOR </a:t>
            </a:r>
            <a:r>
              <a:rPr lang="en-US" b="true" sz="3374">
                <a:solidFill>
                  <a:srgbClr val="84E3F8"/>
                </a:solidFill>
                <a:latin typeface="Arimo Bold"/>
                <a:ea typeface="Arimo Bold"/>
                <a:cs typeface="Arimo Bold"/>
                <a:sym typeface="Arimo Bold"/>
              </a:rPr>
              <a:t>PROFITABILITY</a:t>
            </a:r>
            <a:r>
              <a:rPr lang="en-US" b="true" sz="337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AND </a:t>
            </a:r>
            <a:r>
              <a:rPr lang="en-US" b="true" sz="3374">
                <a:solidFill>
                  <a:srgbClr val="84E3F8"/>
                </a:solidFill>
                <a:latin typeface="Arimo Bold"/>
                <a:ea typeface="Arimo Bold"/>
                <a:cs typeface="Arimo Bold"/>
                <a:sym typeface="Arimo Bold"/>
              </a:rPr>
              <a:t>CUSTOMER SATISFACTION.</a:t>
            </a:r>
          </a:p>
          <a:p>
            <a:pPr algn="ctr">
              <a:lnSpc>
                <a:spcPts val="3895"/>
              </a:lnSpc>
            </a:pPr>
          </a:p>
          <a:p>
            <a:pPr algn="ctr">
              <a:lnSpc>
                <a:spcPts val="3895"/>
              </a:lnSpc>
            </a:pPr>
          </a:p>
          <a:p>
            <a:pPr algn="ctr">
              <a:lnSpc>
                <a:spcPts val="3895"/>
              </a:lnSpc>
            </a:pPr>
          </a:p>
          <a:p>
            <a:pPr algn="ctr">
              <a:lnSpc>
                <a:spcPts val="3895"/>
              </a:lnSpc>
            </a:pPr>
          </a:p>
          <a:p>
            <a:pPr algn="ctr" marL="750197" indent="-375098" lvl="1">
              <a:lnSpc>
                <a:spcPts val="3683"/>
              </a:lnSpc>
              <a:buFont typeface="Arial"/>
              <a:buChar char="•"/>
            </a:pPr>
            <a:r>
              <a:rPr lang="en-US" b="true" sz="347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THIS PROJECT AIMS T</a:t>
            </a:r>
            <a:r>
              <a:rPr lang="en-US" b="true" sz="347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 BUILD A SCALABLE, DATA-DRIVEN ANALYTICS PLATFORM THAT TRANSFORMS </a:t>
            </a:r>
            <a:r>
              <a:rPr lang="en-US" b="true" sz="3474">
                <a:solidFill>
                  <a:srgbClr val="84E3F8"/>
                </a:solidFill>
                <a:latin typeface="Arimo Bold"/>
                <a:ea typeface="Arimo Bold"/>
                <a:cs typeface="Arimo Bold"/>
                <a:sym typeface="Arimo Bold"/>
              </a:rPr>
              <a:t>RAW ORDER</a:t>
            </a:r>
            <a:r>
              <a:rPr lang="en-US" b="true" sz="347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AND LOGISTICS DATA INTO </a:t>
            </a:r>
            <a:r>
              <a:rPr lang="en-US" b="true" sz="3474">
                <a:solidFill>
                  <a:srgbClr val="84E3F8"/>
                </a:solidFill>
                <a:latin typeface="Arimo Bold"/>
                <a:ea typeface="Arimo Bold"/>
                <a:cs typeface="Arimo Bold"/>
                <a:sym typeface="Arimo Bold"/>
              </a:rPr>
              <a:t>ACTIONABLE BUSINESS INTELLIGENCE</a:t>
            </a:r>
            <a:r>
              <a:rPr lang="en-US" b="true" sz="347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  <a:p>
            <a:pPr algn="ctr">
              <a:lnSpc>
                <a:spcPts val="389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7801" y="2285238"/>
            <a:ext cx="16361499" cy="705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498"/>
              </a:lnSpc>
              <a:buFont typeface="Arial"/>
              <a:buChar char="•"/>
            </a:pPr>
            <a:r>
              <a:rPr lang="en-US" b="true" sz="3300">
                <a:solidFill>
                  <a:srgbClr val="84E3F8"/>
                </a:solidFill>
                <a:latin typeface="Poppins Bold"/>
                <a:ea typeface="Poppins Bold"/>
                <a:cs typeface="Poppins Bold"/>
                <a:sym typeface="Poppins Bold"/>
              </a:rPr>
              <a:t>UNPREDICTABLE DELIVERIES: </a:t>
            </a: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INCONSISTENT DELIVERY TIMES ARE LEADING TO CUSTOMER DISSATISFACTION.</a:t>
            </a:r>
          </a:p>
          <a:p>
            <a:pPr algn="l">
              <a:lnSpc>
                <a:spcPts val="3498"/>
              </a:lnSpc>
            </a:pPr>
          </a:p>
          <a:p>
            <a:pPr algn="l">
              <a:lnSpc>
                <a:spcPts val="3498"/>
              </a:lnSpc>
            </a:pPr>
          </a:p>
          <a:p>
            <a:pPr algn="l" marL="712470" indent="-356235" lvl="1">
              <a:lnSpc>
                <a:spcPts val="3498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3300">
                <a:solidFill>
                  <a:srgbClr val="84E3F8"/>
                </a:solidFill>
                <a:latin typeface="Poppins Bold"/>
                <a:ea typeface="Poppins Bold"/>
                <a:cs typeface="Poppins Bold"/>
                <a:sym typeface="Poppins Bold"/>
              </a:rPr>
              <a:t>Rising Operational Costs: </a:t>
            </a: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Understanding the relationship   between shipping costs and product revenue is unclear.</a:t>
            </a:r>
          </a:p>
          <a:p>
            <a:pPr algn="l">
              <a:lnSpc>
                <a:spcPts val="3498"/>
              </a:lnSpc>
            </a:pPr>
          </a:p>
          <a:p>
            <a:pPr algn="l">
              <a:lnSpc>
                <a:spcPts val="3498"/>
              </a:lnSpc>
            </a:pPr>
          </a:p>
          <a:p>
            <a:pPr algn="l" marL="712470" indent="-356235" lvl="1">
              <a:lnSpc>
                <a:spcPts val="3498"/>
              </a:lnSpc>
              <a:buFont typeface="Arial"/>
              <a:buChar char="•"/>
            </a:pPr>
            <a:r>
              <a:rPr lang="en-US" b="true" sz="3300">
                <a:solidFill>
                  <a:srgbClr val="84E3F8"/>
                </a:solidFill>
                <a:latin typeface="Poppins Bold"/>
                <a:ea typeface="Poppins Bold"/>
                <a:cs typeface="Poppins Bold"/>
                <a:sym typeface="Poppins Bold"/>
              </a:rPr>
              <a:t>Warehouse Inefficiency:</a:t>
            </a: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It's difficult to pinpoint which warehouses are underperforming and why.</a:t>
            </a:r>
          </a:p>
          <a:p>
            <a:pPr algn="l">
              <a:lnSpc>
                <a:spcPts val="3498"/>
              </a:lnSpc>
            </a:pPr>
          </a:p>
          <a:p>
            <a:pPr algn="l">
              <a:lnSpc>
                <a:spcPts val="3498"/>
              </a:lnSpc>
            </a:pPr>
          </a:p>
          <a:p>
            <a:pPr algn="l" marL="712470" indent="-356235" lvl="1">
              <a:lnSpc>
                <a:spcPts val="3498"/>
              </a:lnSpc>
              <a:buFont typeface="Arial"/>
              <a:buChar char="•"/>
            </a:pPr>
            <a:r>
              <a:rPr lang="en-US" b="true" sz="3300">
                <a:solidFill>
                  <a:srgbClr val="84E3F8"/>
                </a:solidFill>
                <a:latin typeface="Poppins Bold"/>
                <a:ea typeface="Poppins Bold"/>
                <a:cs typeface="Poppins Bold"/>
                <a:sym typeface="Poppins Bold"/>
              </a:rPr>
              <a:t>Lack of </a:t>
            </a:r>
            <a:r>
              <a:rPr lang="en-US" b="true" sz="3300">
                <a:solidFill>
                  <a:srgbClr val="84E3F8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INSIGHT: </a:t>
            </a: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COMPANY DOESN'T KNOW WHICH SPECIFIC PRODUCTS ARE MOST FREQUENTLY ASSOCIATED WITH DELAYS, HINDERING INVENTORY AND SUPPLIER MANAGEMENT.</a:t>
            </a:r>
          </a:p>
          <a:p>
            <a:pPr algn="l">
              <a:lnSpc>
                <a:spcPts val="3498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98778" y="469283"/>
            <a:ext cx="14555653" cy="251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2"/>
              </a:lnSpc>
            </a:pPr>
            <a:r>
              <a:rPr lang="en-US" sz="7549" b="true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 THE BUSINESS PROBLEM</a:t>
            </a:r>
          </a:p>
          <a:p>
            <a:pPr algn="l">
              <a:lnSpc>
                <a:spcPts val="1139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9323" y="3506565"/>
            <a:ext cx="4927870" cy="2456751"/>
          </a:xfrm>
          <a:custGeom>
            <a:avLst/>
            <a:gdLst/>
            <a:ahLst/>
            <a:cxnLst/>
            <a:rect r="r" b="b" t="t" l="l"/>
            <a:pathLst>
              <a:path h="2456751" w="4927870">
                <a:moveTo>
                  <a:pt x="0" y="0"/>
                </a:moveTo>
                <a:lnTo>
                  <a:pt x="4927870" y="0"/>
                </a:lnTo>
                <a:lnTo>
                  <a:pt x="4927870" y="2456751"/>
                </a:lnTo>
                <a:lnTo>
                  <a:pt x="0" y="2456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47148" y="3491906"/>
            <a:ext cx="4785224" cy="2456751"/>
          </a:xfrm>
          <a:custGeom>
            <a:avLst/>
            <a:gdLst/>
            <a:ahLst/>
            <a:cxnLst/>
            <a:rect r="r" b="b" t="t" l="l"/>
            <a:pathLst>
              <a:path h="2456751" w="4785224">
                <a:moveTo>
                  <a:pt x="0" y="0"/>
                </a:moveTo>
                <a:lnTo>
                  <a:pt x="4785224" y="0"/>
                </a:lnTo>
                <a:lnTo>
                  <a:pt x="4785224" y="2456751"/>
                </a:lnTo>
                <a:lnTo>
                  <a:pt x="0" y="2456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903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87239" y="2925866"/>
            <a:ext cx="3972061" cy="3037450"/>
          </a:xfrm>
          <a:custGeom>
            <a:avLst/>
            <a:gdLst/>
            <a:ahLst/>
            <a:cxnLst/>
            <a:rect r="r" b="b" t="t" l="l"/>
            <a:pathLst>
              <a:path h="3037450" w="3972061">
                <a:moveTo>
                  <a:pt x="0" y="0"/>
                </a:moveTo>
                <a:lnTo>
                  <a:pt x="3972061" y="0"/>
                </a:lnTo>
                <a:lnTo>
                  <a:pt x="3972061" y="3037450"/>
                </a:lnTo>
                <a:lnTo>
                  <a:pt x="0" y="3037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79" t="-6430" r="-1379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4998931" y="4688103"/>
            <a:ext cx="2071504" cy="445373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99323" y="577657"/>
            <a:ext cx="17063640" cy="69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3"/>
              </a:lnSpc>
              <a:spcBef>
                <a:spcPct val="0"/>
              </a:spcBef>
            </a:pPr>
            <a:r>
              <a:rPr lang="en-US" b="true" sz="5050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TECHNICAL ARCHITECTURE &amp; IMPLEMENTATION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1215734" y="4688103"/>
            <a:ext cx="2071504" cy="445373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0" y="1785099"/>
            <a:ext cx="17063640" cy="69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3"/>
              </a:lnSpc>
              <a:spcBef>
                <a:spcPct val="0"/>
              </a:spcBef>
            </a:pPr>
            <a:r>
              <a:rPr lang="en-US" b="true" sz="505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ETL PIPLINE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4405" y="2031044"/>
            <a:ext cx="14842314" cy="729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3391"/>
              </a:lnSpc>
              <a:buFont typeface="Arial"/>
              <a:buChar char="•"/>
            </a:pPr>
            <a:r>
              <a:rPr lang="en-US" b="true" sz="3199">
                <a:solidFill>
                  <a:srgbClr val="84E3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WAREHOUSE EFFICIENCY DASHBOARD:</a:t>
            </a:r>
          </a:p>
          <a:p>
            <a:pPr algn="l" marL="1381751" indent="-460584" lvl="2">
              <a:lnSpc>
                <a:spcPts val="3391"/>
              </a:lnSpc>
              <a:buFont typeface="Arial"/>
              <a:buChar char="⚬"/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Late Delivery Rate per Warehouse.</a:t>
            </a:r>
          </a:p>
          <a:p>
            <a:pPr algn="l" marL="1381751" indent="-460584" lvl="2">
              <a:lnSpc>
                <a:spcPts val="3391"/>
              </a:lnSpc>
              <a:buFont typeface="Arial"/>
              <a:buChar char="⚬"/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Average Delivery Time Delta (Estimated vs. Actual).</a:t>
            </a:r>
          </a:p>
          <a:p>
            <a:pPr algn="l">
              <a:lnSpc>
                <a:spcPts val="3391"/>
              </a:lnSpc>
            </a:pPr>
          </a:p>
          <a:p>
            <a:pPr algn="l" marL="690876" indent="-345438" lvl="1">
              <a:lnSpc>
                <a:spcPts val="3391"/>
              </a:lnSpc>
              <a:buFont typeface="Arial"/>
              <a:buChar char="•"/>
            </a:pPr>
            <a:r>
              <a:rPr lang="en-US" b="true" sz="3199">
                <a:solidFill>
                  <a:srgbClr val="84E3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Financial </a:t>
            </a:r>
            <a:r>
              <a:rPr lang="en-US" b="true" sz="3199">
                <a:solidFill>
                  <a:srgbClr val="84E3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REPORT:</a:t>
            </a:r>
          </a:p>
          <a:p>
            <a:pPr algn="l" marL="1381751" indent="-460584" lvl="2">
              <a:lnSpc>
                <a:spcPts val="3391"/>
              </a:lnSpc>
              <a:buFont typeface="Arial"/>
              <a:buChar char="⚬"/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REVENUE VS. SHIPPING COST RATIO PER WAREHOUSE.</a:t>
            </a:r>
          </a:p>
          <a:p>
            <a:pPr algn="l" marL="1381751" indent="-460584" lvl="2">
              <a:lnSpc>
                <a:spcPts val="3391"/>
              </a:lnSpc>
              <a:buFont typeface="Arial"/>
              <a:buChar char="⚬"/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AGGREGATE REVENUE AND COST SUMMARIES.</a:t>
            </a:r>
          </a:p>
          <a:p>
            <a:pPr algn="l">
              <a:lnSpc>
                <a:spcPts val="3391"/>
              </a:lnSpc>
            </a:pPr>
          </a:p>
          <a:p>
            <a:pPr algn="l" marL="690876" indent="-345438" lvl="1">
              <a:lnSpc>
                <a:spcPts val="3391"/>
              </a:lnSpc>
              <a:buFont typeface="Arial"/>
              <a:buChar char="•"/>
            </a:pPr>
            <a:r>
              <a:rPr lang="en-US" b="true" sz="3199">
                <a:solidFill>
                  <a:srgbClr val="84E3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PRODUCT DELAY ANALYSIS:</a:t>
            </a:r>
          </a:p>
          <a:p>
            <a:pPr algn="l" marL="1381751" indent="-460584" lvl="2">
              <a:lnSpc>
                <a:spcPts val="3391"/>
              </a:lnSpc>
              <a:buFont typeface="Arial"/>
              <a:buChar char="⚬"/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RANKED LIST OF THE TOP 10 PRODUCTS WITH THE HIGHEST CONTRIBUTION TO LATE DELIVERIES.</a:t>
            </a:r>
          </a:p>
          <a:p>
            <a:pPr algn="l" marL="1381751" indent="-460584" lvl="2">
              <a:lnSpc>
                <a:spcPts val="3391"/>
              </a:lnSpc>
              <a:buFont typeface="Arial"/>
              <a:buChar char="⚬"/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PRODUCT-LEVEL BREAKDOWN OF AVERAGE DELAY DAYS.</a:t>
            </a:r>
          </a:p>
          <a:p>
            <a:pPr algn="l">
              <a:lnSpc>
                <a:spcPts val="3391"/>
              </a:lnSpc>
            </a:pPr>
          </a:p>
          <a:p>
            <a:pPr algn="l" marL="690876" indent="-345438" lvl="1">
              <a:lnSpc>
                <a:spcPts val="3391"/>
              </a:lnSpc>
              <a:buFont typeface="Arial"/>
              <a:buChar char="•"/>
            </a:pPr>
            <a:r>
              <a:rPr lang="en-US" b="true" sz="3199">
                <a:solidFill>
                  <a:srgbClr val="84E3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ORDER-LEVEL SUMMARY:</a:t>
            </a:r>
          </a:p>
          <a:p>
            <a:pPr algn="l" marL="1381751" indent="-460584" lvl="2">
              <a:lnSpc>
                <a:spcPts val="3391"/>
              </a:lnSpc>
              <a:buFont typeface="Arial"/>
              <a:buChar char="⚬"/>
            </a:pPr>
            <a:r>
              <a:rPr lang="en-US" b="true" sz="3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COMPREHENSIVE VIEW OF ORDER VALUE, SHIPPING COST, AND DELIVERY STATUS.</a:t>
            </a:r>
          </a:p>
          <a:p>
            <a:pPr algn="l">
              <a:lnSpc>
                <a:spcPts val="3391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20481" y="572337"/>
            <a:ext cx="15966325" cy="229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</a:pPr>
            <a:r>
              <a:rPr lang="en-US" sz="5849" b="true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 KEY FEATURES &amp; ANALYSES DELIVERED</a:t>
            </a:r>
          </a:p>
          <a:p>
            <a:pPr algn="l">
              <a:lnSpc>
                <a:spcPts val="1139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6906" y="3827448"/>
            <a:ext cx="3003438" cy="2632104"/>
          </a:xfrm>
          <a:custGeom>
            <a:avLst/>
            <a:gdLst/>
            <a:ahLst/>
            <a:cxnLst/>
            <a:rect r="r" b="b" t="t" l="l"/>
            <a:pathLst>
              <a:path h="2632104" w="3003438">
                <a:moveTo>
                  <a:pt x="0" y="0"/>
                </a:moveTo>
                <a:lnTo>
                  <a:pt x="3003437" y="0"/>
                </a:lnTo>
                <a:lnTo>
                  <a:pt x="3003437" y="2632104"/>
                </a:lnTo>
                <a:lnTo>
                  <a:pt x="0" y="2632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23546" y="3404730"/>
            <a:ext cx="2758385" cy="2758385"/>
          </a:xfrm>
          <a:custGeom>
            <a:avLst/>
            <a:gdLst/>
            <a:ahLst/>
            <a:cxnLst/>
            <a:rect r="r" b="b" t="t" l="l"/>
            <a:pathLst>
              <a:path h="2758385" w="2758385">
                <a:moveTo>
                  <a:pt x="0" y="0"/>
                </a:moveTo>
                <a:lnTo>
                  <a:pt x="2758385" y="0"/>
                </a:lnTo>
                <a:lnTo>
                  <a:pt x="2758385" y="2758385"/>
                </a:lnTo>
                <a:lnTo>
                  <a:pt x="0" y="27583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39280" y="3720453"/>
            <a:ext cx="2846094" cy="2846094"/>
          </a:xfrm>
          <a:custGeom>
            <a:avLst/>
            <a:gdLst/>
            <a:ahLst/>
            <a:cxnLst/>
            <a:rect r="r" b="b" t="t" l="l"/>
            <a:pathLst>
              <a:path h="2846094" w="2846094">
                <a:moveTo>
                  <a:pt x="0" y="0"/>
                </a:moveTo>
                <a:lnTo>
                  <a:pt x="2846094" y="0"/>
                </a:lnTo>
                <a:lnTo>
                  <a:pt x="2846094" y="2846094"/>
                </a:lnTo>
                <a:lnTo>
                  <a:pt x="0" y="28460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6906" y="442691"/>
            <a:ext cx="16752394" cy="219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0"/>
              </a:lnSpc>
            </a:pPr>
            <a:r>
              <a:rPr lang="en-US" sz="8000" b="true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RESULTS AND INSIGHTS</a:t>
            </a:r>
          </a:p>
          <a:p>
            <a:pPr algn="l">
              <a:lnSpc>
                <a:spcPts val="848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71417" y="6689507"/>
            <a:ext cx="283892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duce Costs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33087" y="6689507"/>
            <a:ext cx="646783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Improv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 Customer Satisfaction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60197" y="6689507"/>
            <a:ext cx="653831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Enhanc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 Operational Efficiency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5404" y="4252230"/>
            <a:ext cx="15417192" cy="4817872"/>
          </a:xfrm>
          <a:custGeom>
            <a:avLst/>
            <a:gdLst/>
            <a:ahLst/>
            <a:cxnLst/>
            <a:rect r="r" b="b" t="t" l="l"/>
            <a:pathLst>
              <a:path h="4817872" w="15417192">
                <a:moveTo>
                  <a:pt x="0" y="0"/>
                </a:moveTo>
                <a:lnTo>
                  <a:pt x="15417192" y="0"/>
                </a:lnTo>
                <a:lnTo>
                  <a:pt x="15417192" y="4817873"/>
                </a:lnTo>
                <a:lnTo>
                  <a:pt x="0" y="4817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0847"/>
            <a:ext cx="9604450" cy="239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7"/>
              </a:lnSpc>
            </a:pPr>
            <a:r>
              <a:rPr lang="en-US" sz="5874" b="true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INSIGHTS USING </a:t>
            </a:r>
            <a:r>
              <a:rPr lang="en-US" sz="5874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SPARK SQL</a:t>
            </a:r>
          </a:p>
          <a:p>
            <a:pPr algn="l">
              <a:lnSpc>
                <a:spcPts val="622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770391" y="3127974"/>
            <a:ext cx="12747218" cy="53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9"/>
              </a:lnSpc>
              <a:spcBef>
                <a:spcPct val="0"/>
              </a:spcBef>
            </a:pPr>
            <a:r>
              <a:rPr lang="en-US" sz="3952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AVERAGE DELIVERY TIME DELTA PER WAREHOUSE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1727" y="4450599"/>
            <a:ext cx="16744546" cy="5128017"/>
          </a:xfrm>
          <a:custGeom>
            <a:avLst/>
            <a:gdLst/>
            <a:ahLst/>
            <a:cxnLst/>
            <a:rect r="r" b="b" t="t" l="l"/>
            <a:pathLst>
              <a:path h="5128017" w="16744546">
                <a:moveTo>
                  <a:pt x="0" y="0"/>
                </a:moveTo>
                <a:lnTo>
                  <a:pt x="16744546" y="0"/>
                </a:lnTo>
                <a:lnTo>
                  <a:pt x="16744546" y="5128017"/>
                </a:lnTo>
                <a:lnTo>
                  <a:pt x="0" y="5128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0847"/>
            <a:ext cx="9604450" cy="239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7"/>
              </a:lnSpc>
            </a:pPr>
            <a:r>
              <a:rPr lang="en-US" sz="5874" b="true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INSIGHTS USING </a:t>
            </a:r>
            <a:r>
              <a:rPr lang="en-US" sz="5874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SPARK SQL</a:t>
            </a:r>
          </a:p>
          <a:p>
            <a:pPr algn="l">
              <a:lnSpc>
                <a:spcPts val="622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155240" y="3127974"/>
            <a:ext cx="13977520" cy="53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9"/>
              </a:lnSpc>
              <a:spcBef>
                <a:spcPct val="0"/>
              </a:spcBef>
            </a:pPr>
            <a:r>
              <a:rPr lang="en-US" sz="3952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TOP WAREHOUSES WITH HIGHEST LATE DELIVERY RATE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4892" y="3887317"/>
            <a:ext cx="16863918" cy="6058362"/>
          </a:xfrm>
          <a:custGeom>
            <a:avLst/>
            <a:gdLst/>
            <a:ahLst/>
            <a:cxnLst/>
            <a:rect r="r" b="b" t="t" l="l"/>
            <a:pathLst>
              <a:path h="6058362" w="16863918">
                <a:moveTo>
                  <a:pt x="0" y="0"/>
                </a:moveTo>
                <a:lnTo>
                  <a:pt x="16863918" y="0"/>
                </a:lnTo>
                <a:lnTo>
                  <a:pt x="16863918" y="6058362"/>
                </a:lnTo>
                <a:lnTo>
                  <a:pt x="0" y="6058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335" r="0" b="-1166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0847"/>
            <a:ext cx="9604450" cy="239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7"/>
              </a:lnSpc>
            </a:pPr>
            <a:r>
              <a:rPr lang="en-US" sz="5874" b="true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INSIGHTS USING </a:t>
            </a:r>
            <a:r>
              <a:rPr lang="en-US" sz="5874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SPARK SQL</a:t>
            </a:r>
          </a:p>
          <a:p>
            <a:pPr algn="l">
              <a:lnSpc>
                <a:spcPts val="622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555459" y="3127974"/>
            <a:ext cx="13858936" cy="53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9"/>
              </a:lnSpc>
              <a:spcBef>
                <a:spcPct val="0"/>
              </a:spcBef>
            </a:pPr>
            <a:r>
              <a:rPr lang="en-US" sz="3952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REVENUE VS SHIPPING COST RATIO PER WAREHOUSE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6575" y="3367899"/>
            <a:ext cx="16376588" cy="6779524"/>
          </a:xfrm>
          <a:custGeom>
            <a:avLst/>
            <a:gdLst/>
            <a:ahLst/>
            <a:cxnLst/>
            <a:rect r="r" b="b" t="t" l="l"/>
            <a:pathLst>
              <a:path h="6779524" w="16376588">
                <a:moveTo>
                  <a:pt x="0" y="0"/>
                </a:moveTo>
                <a:lnTo>
                  <a:pt x="16376588" y="0"/>
                </a:lnTo>
                <a:lnTo>
                  <a:pt x="16376588" y="6779524"/>
                </a:lnTo>
                <a:lnTo>
                  <a:pt x="0" y="6779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691" r="0" b="-1069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0847"/>
            <a:ext cx="9604450" cy="239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7"/>
              </a:lnSpc>
            </a:pPr>
            <a:r>
              <a:rPr lang="en-US" sz="5874" b="true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INSIGHTS USING </a:t>
            </a:r>
            <a:r>
              <a:rPr lang="en-US" sz="5874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SPARK SQL</a:t>
            </a:r>
          </a:p>
          <a:p>
            <a:pPr algn="l">
              <a:lnSpc>
                <a:spcPts val="622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578240" y="2533824"/>
            <a:ext cx="11931958" cy="53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9"/>
              </a:lnSpc>
              <a:spcBef>
                <a:spcPct val="0"/>
              </a:spcBef>
            </a:pPr>
            <a:r>
              <a:rPr lang="en-US" sz="3952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WAREHOUSE EFFICIENCY VS LATE DELIVERIES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1879" y="4154876"/>
            <a:ext cx="16664243" cy="5103424"/>
          </a:xfrm>
          <a:custGeom>
            <a:avLst/>
            <a:gdLst/>
            <a:ahLst/>
            <a:cxnLst/>
            <a:rect r="r" b="b" t="t" l="l"/>
            <a:pathLst>
              <a:path h="5103424" w="16664243">
                <a:moveTo>
                  <a:pt x="0" y="0"/>
                </a:moveTo>
                <a:lnTo>
                  <a:pt x="16664242" y="0"/>
                </a:lnTo>
                <a:lnTo>
                  <a:pt x="16664242" y="5103424"/>
                </a:lnTo>
                <a:lnTo>
                  <a:pt x="0" y="51034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0847"/>
            <a:ext cx="9604450" cy="239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7"/>
              </a:lnSpc>
            </a:pPr>
            <a:r>
              <a:rPr lang="en-US" sz="5874" b="true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INSIGHTS USING </a:t>
            </a:r>
            <a:r>
              <a:rPr lang="en-US" sz="5874" b="true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SPARK SQL</a:t>
            </a:r>
          </a:p>
          <a:p>
            <a:pPr algn="l">
              <a:lnSpc>
                <a:spcPts val="622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512083" y="3127974"/>
            <a:ext cx="9263834" cy="53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9"/>
              </a:lnSpc>
              <a:spcBef>
                <a:spcPct val="0"/>
              </a:spcBef>
            </a:pPr>
            <a:r>
              <a:rPr lang="en-US" sz="3952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TOP 10 PRODUCTS CAUSING DELAYS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15988"/>
            <a:ext cx="15168190" cy="578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3"/>
              </a:lnSpc>
            </a:pPr>
            <a:r>
              <a:rPr lang="en-US" sz="3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PROJECT DEMONSTRATES THE POWER OF BIG DATA TECHNOLOGIES TO SOLVE REAL-WORLD BUSINESS PROBLEMS. </a:t>
            </a:r>
          </a:p>
          <a:p>
            <a:pPr algn="l">
              <a:lnSpc>
                <a:spcPts val="4133"/>
              </a:lnSpc>
            </a:pPr>
          </a:p>
          <a:p>
            <a:pPr algn="l">
              <a:lnSpc>
                <a:spcPts val="4133"/>
              </a:lnSpc>
            </a:pPr>
            <a:r>
              <a:rPr lang="en-US" sz="3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BUILDING A SCALABLE ANALYTICS PIPELINE WITH </a:t>
            </a:r>
            <a:r>
              <a:rPr lang="en-US" sz="3899" b="true">
                <a:solidFill>
                  <a:srgbClr val="84E3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SQOOP</a:t>
            </a:r>
            <a:r>
              <a:rPr lang="en-US" sz="3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, </a:t>
            </a:r>
            <a:r>
              <a:rPr lang="en-US" sz="3899" b="true">
                <a:solidFill>
                  <a:srgbClr val="84E3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SPARK </a:t>
            </a:r>
            <a:r>
              <a:rPr lang="en-US" sz="3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 </a:t>
            </a:r>
            <a:r>
              <a:rPr lang="en-US" sz="3899" b="true">
                <a:solidFill>
                  <a:srgbClr val="84E3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HIVE</a:t>
            </a:r>
          </a:p>
          <a:p>
            <a:pPr algn="l">
              <a:lnSpc>
                <a:spcPts val="4133"/>
              </a:lnSpc>
            </a:pPr>
          </a:p>
          <a:p>
            <a:pPr algn="l">
              <a:lnSpc>
                <a:spcPts val="4133"/>
              </a:lnSpc>
            </a:pPr>
            <a:r>
              <a:rPr lang="en-US" sz="3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WE HAVE PROVIDED </a:t>
            </a:r>
            <a:r>
              <a:rPr lang="en-US" sz="3899" b="true">
                <a:solidFill>
                  <a:srgbClr val="84E3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CLEAR, QUANTIFIABLE VIEW OF THE COMPANY'S LOGISTICS AND SALES OPERATIONS</a:t>
            </a:r>
            <a:r>
              <a:rPr lang="en-US" sz="3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</a:p>
          <a:p>
            <a:pPr algn="l">
              <a:lnSpc>
                <a:spcPts val="4133"/>
              </a:lnSpc>
              <a:spcBef>
                <a:spcPct val="0"/>
              </a:spcBef>
            </a:pPr>
            <a:r>
              <a:rPr lang="en-US" b="true" sz="38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LAYING THE FOUNDATION FOR CONTINUOUS IMPROVEMENT AND A SIGNIFICANT COMPETITIVE ADVANTAGE.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0236" y="464897"/>
            <a:ext cx="8255035" cy="207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9"/>
              </a:lnSpc>
            </a:pPr>
            <a:r>
              <a:rPr lang="en-US" sz="5904" b="true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 CONCLUSION</a:t>
            </a:r>
          </a:p>
          <a:p>
            <a:pPr algn="l">
              <a:lnSpc>
                <a:spcPts val="96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984803" y="-1314334"/>
            <a:ext cx="8318394" cy="13299759"/>
          </a:xfrm>
          <a:custGeom>
            <a:avLst/>
            <a:gdLst/>
            <a:ahLst/>
            <a:cxnLst/>
            <a:rect r="r" b="b" t="t" l="l"/>
            <a:pathLst>
              <a:path h="13299759" w="8318394">
                <a:moveTo>
                  <a:pt x="0" y="0"/>
                </a:moveTo>
                <a:lnTo>
                  <a:pt x="8318394" y="0"/>
                </a:lnTo>
                <a:lnTo>
                  <a:pt x="8318394" y="13299759"/>
                </a:lnTo>
                <a:lnTo>
                  <a:pt x="0" y="13299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95089" y="4598153"/>
            <a:ext cx="5097823" cy="163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23"/>
              </a:lnSpc>
              <a:spcBef>
                <a:spcPct val="0"/>
              </a:spcBef>
            </a:pPr>
            <a:r>
              <a:rPr lang="en-US" b="true" sz="11814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YOU!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45623" y="3359600"/>
            <a:ext cx="5796755" cy="163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23"/>
              </a:lnSpc>
              <a:spcBef>
                <a:spcPct val="0"/>
              </a:spcBef>
            </a:pPr>
            <a:r>
              <a:rPr lang="en-US" b="true" sz="11814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THANK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494121" y="857710"/>
            <a:ext cx="1789958" cy="1757413"/>
          </a:xfrm>
          <a:custGeom>
            <a:avLst/>
            <a:gdLst/>
            <a:ahLst/>
            <a:cxnLst/>
            <a:rect r="r" b="b" t="t" l="l"/>
            <a:pathLst>
              <a:path h="1757413" w="1789958">
                <a:moveTo>
                  <a:pt x="0" y="0"/>
                </a:moveTo>
                <a:lnTo>
                  <a:pt x="1789958" y="0"/>
                </a:lnTo>
                <a:lnTo>
                  <a:pt x="1789958" y="1757413"/>
                </a:lnTo>
                <a:lnTo>
                  <a:pt x="0" y="17574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DAG0oXptfY0</dc:identifier>
  <dcterms:modified xsi:type="dcterms:W3CDTF">2011-08-01T06:04:30Z</dcterms:modified>
  <cp:revision>1</cp:revision>
  <dc:title>Blue Modern AI Technology Presentation</dc:title>
</cp:coreProperties>
</file>